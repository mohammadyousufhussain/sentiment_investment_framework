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0be9107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50be9107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50be910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50be910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0be9107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50be9107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0be9107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0be9107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0be9107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50be9107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21924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/>
              <a:t>Case Study: Building a Sentiment-Driven Investment Scoring Model</a:t>
            </a:r>
            <a:endParaRPr b="1" sz="20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707450"/>
            <a:ext cx="2577600" cy="28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Problem</a:t>
            </a:r>
            <a:endParaRPr sz="16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Market-moving news breaks continuously across dozens of outlets - far faster than analysts can manually screen for investable signal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Sentiment alone is noisy and easily misleading without quantitative validation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A company's score means little in isolation - it needs peer context to be defensible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existing workflow unifies sentiment, fundamentals, and peer comps into one explainable investment score</a:t>
            </a:r>
            <a:endParaRPr sz="1000"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192875" y="1707450"/>
            <a:ext cx="2577600" cy="28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  <a:p>
            <a:pPr indent="-2825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NER extraction from news articles - to identify companies mentioned in the article confidently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Assess whether the article is relevant for the company or just incidentally mentioned and how confident 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Calculate the sentiment of the news articles to structure signals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Assess the fundamentals of the company and have an integrated score including sentiment factor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Identify relevant peers and do peer comp analysis to have an investment 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398075" y="656156"/>
            <a:ext cx="82350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Develop an automated system that uses news sentiment to identify promising investment opportunities, validates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them with financial data, and produces a final, unified score. Compare each target company against its peers to provide a clear, explainable investment thesis.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5826325" y="1707450"/>
            <a:ext cx="2922600" cy="28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000"/>
              <a:t>News &amp; sentiment: Google News RSS, NewsAPI, Alpha Vantage, Yahoo Finance, Benzinga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000"/>
              <a:t>Fundamentals &amp; valuation: yfinance, Alpha Vantage company data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000"/>
              <a:t>Entity reference: SEC EDGAR company tickers, S&amp;P 500 constituents (for NER matching)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3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&amp; Model Architecture</a:t>
            </a:r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320040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1  INGEST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Keyword search across
4 news sources (Stage A)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00200" y="960120"/>
            <a:ext cx="164592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764792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2  IDENTIFY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NER ensemble links
articles to tickers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4952" y="960120"/>
            <a:ext cx="164592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209544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3  DEEP INGEST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Ticker-scoped history,
5 sources (Stage B)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89704" y="960120"/>
            <a:ext cx="164592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54296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4  SCORE SENTIMENT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FinBERT + LLM ensemble,
5-tier label per article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34456" y="960120"/>
            <a:ext cx="164592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99048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5  AGGREGATE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Inflection/turnaround
detection -&gt; shortlist of 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79208" y="960120"/>
            <a:ext cx="164592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960120"/>
            <a:ext cx="1280160" cy="749808"/>
          </a:xfrm>
          <a:prstGeom prst="roundRect">
            <a:avLst>
              <a:gd name="adj" fmla="val 6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Calibri"/>
              </a:rPr>
              <a:t>6  SCORE &amp; COMPARE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20" b="0">
                <a:solidFill>
                  <a:srgbClr val="FFFFFF"/>
                </a:solidFill>
                <a:latin typeface="Calibri"/>
              </a:rPr>
              <a:t>Fundamentals + sentiment
composite vs. 3 peers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" y="1847088"/>
            <a:ext cx="4160520" cy="329184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NER ARCHITECTURE  —  dual extraction, agreement stacks confidence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221284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54864"/>
          <a:lstStyle/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spaCy (en_core_web_trf) extracts ORG spans, fuzzy-matched (rapidfuzz) against SEC EDGAR's ~7,600 canonical issuers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Gemini Flash-Lite: batched structured extraction (15 articles/call) returns company, confidence, supporting quote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Quotes are checked against source text; ungrounded LLM mentions are discounted 0.3x (hallucination guard)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Combined via noisy-OR: combined = 1 - (1-conf_spaCy)(1-conf_LLM) — independent agreement stacks evidence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Relevance (High/Med/Low, investor-lens) scored by the LLM separately — gates default selection, not identity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663440" y="1847088"/>
            <a:ext cx="4160520" cy="329184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SENTIMENT ARCHITECTURE  —  agreement flagged, not blended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63440" y="221284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54864"/>
          <a:lstStyle/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FinBERT scores only the ticker-focused snippets (sentence-split + name match), not the whole article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Gemini Flash-Lite reads the full article, ticker-aware, quote-grounded (same hallucination guard as NER)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Bucketed to Alpha Vantage's 5-tier scale (Bullish→Bearish) using AV's own published numeric thresholds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Ordinal agreement, not noisy-OR: Agree/Conflict by rank distance; LLM label wins on conflict, conflict still surfaced</a:t>
            </a:r>
          </a:p>
          <a:p>
            <a:pPr algn="l">
              <a:lnSpc>
                <a:spcPct val="116000"/>
              </a:lnSpc>
              <a:spcAft>
                <a:spcPts val="9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Validated on real data: 67% exact-label agreement, 98% directional (polarity) agreement between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Scoring Logic and Rationale</a:t>
            </a:r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320040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VALUE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default wt. 20%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30680" y="960120"/>
            <a:ext cx="1280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758696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QUALITY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default wt. 20%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69336" y="960120"/>
            <a:ext cx="1280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197352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GROWTH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default wt. 20%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07992" y="960120"/>
            <a:ext cx="1280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36008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MOMENTUM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default wt. 20%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6648" y="960120"/>
            <a:ext cx="1280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74664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78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SENTIMENT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FFFFFF"/>
                </a:solidFill>
                <a:latin typeface="Calibri"/>
              </a:rPr>
              <a:t>default wt. 20%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85304" y="960120"/>
            <a:ext cx="1280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78909C"/>
                </a:solidFill>
              </a:rPr>
              <a:t>=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13320" y="960120"/>
            <a:ext cx="1310640" cy="731520"/>
          </a:xfrm>
          <a:prstGeom prst="roundRect">
            <a:avLst>
              <a:gd name="adj" fmla="val 6000"/>
            </a:avLst>
          </a:prstGeom>
          <a:solidFill>
            <a:srgbClr val="FFA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COMPOSITE
SCORE (0-100)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40" y="1847088"/>
            <a:ext cx="4160520" cy="329184"/>
          </a:xfrm>
          <a:prstGeom prst="roundRect">
            <a:avLst>
              <a:gd name="adj" fmla="val 6000"/>
            </a:avLst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FUNDAMENTAL FACTORS  —  weighted z-score per factor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0040" y="221284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54864"/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Value: trailing/forward P/E, P/B, P/S, EV/EBITDA, FCF yield, shareholder yield (cheaper = higher z)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Quality: revenue growth, gross/operating/net margin, ROE, ROA, debt/equity, cash conversion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Growth &amp; Momentum: revenue trajectory; 12-1 month vol-adjusted momentum vs. sector and market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Each metric z-scored (own trailing history, or vs. 3 peers for comps) then weighted-averaged into a factor z: Σ(z·w)/Σw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Metric weights default equal within each factor — adjustable and lockable per company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63440" y="1847088"/>
            <a:ext cx="4160520" cy="329184"/>
          </a:xfrm>
          <a:prstGeom prst="roundRect">
            <a:avLst>
              <a:gd name="adj" fmla="val 6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SENTIMENT FACTOR &amp; COMPOSITE  —  how it's added in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663440" y="2212848"/>
            <a:ext cx="4160520" cy="2148840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82296" bIns="54864"/>
          <a:lstStyle/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Built from 3 confidence-weighted sentiment windows — Recent (0-3d), Mid (4-14d), Historical (15-30d) — on a Bearish(-2)...Bullish(+2) scale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Default window blend: 70% Recent / 30% Mid / 0% Historical — recent news carries the signal; older news is already priced in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Windows below a 3-article volume floor are excluded, never zero-filled, so thin news can't silently drag the score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Sentiment is a 5th factor, not a bolt-on: composite = weighted z-average of Value, Quality, Growth, Momentum, Sentiment, mapped through the normal CDF to 0-100</a:t>
            </a:r>
          </a:p>
          <a:p>
            <a:pPr algn="l">
              <a:lnSpc>
                <a:spcPct val="114000"/>
              </a:lnSpc>
              <a:spcAft>
                <a:spcPts val="800"/>
              </a:spcAft>
            </a:pPr>
            <a:r>
              <a:rPr sz="830" b="0">
                <a:solidFill>
                  <a:srgbClr val="333333"/>
                </a:solidFill>
                <a:latin typeface="Calibri"/>
              </a:rPr>
              <a:t>–  Default: equal 20% per factor — every weight is user-adjustable and lockable for consistent peer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Peer Comps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Investment Theses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