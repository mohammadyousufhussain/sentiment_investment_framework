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8AB4F8"/>
                </a:solidFill>
                <a:latin typeface="Calibri"/>
              </a:rPr>
              <a:t>SENTIMENT-DRIVEN INVESTMENT RESEARCH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 i="0">
                <a:solidFill>
                  <a:srgbClr val="FFFFFF"/>
                </a:solidFill>
                <a:latin typeface="Calibri"/>
              </a:rPr>
              <a:t>Sentinel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0">
                <a:solidFill>
                  <a:srgbClr val="C7D1E0"/>
                </a:solidFill>
                <a:latin typeface="Calibri"/>
              </a:rPr>
              <a:t>Pipeline &amp;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4348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 i="1">
                <a:solidFill>
                  <a:srgbClr val="9AA5B8"/>
                </a:solidFill>
                <a:latin typeface="Calibri"/>
              </a:rPr>
              <a:t>News ingestion  →  NLP &amp; sentiment scoring  →  quantitative valuation  →  AI-grounded synthesis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F6FED"/>
                </a:solidFill>
                <a:latin typeface="Calibri"/>
              </a:rPr>
              <a:t>END-TO-END 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B2E"/>
                </a:solidFill>
                <a:latin typeface="Calibri"/>
              </a:rPr>
              <a:t>From Raw News to a Grounded Investment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1   INGEST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5 news sources scanned per
theme/ticker search (Stage A)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996948" y="2386584"/>
            <a:ext cx="219456" cy="237744"/>
          </a:xfrm>
          <a:prstGeom prst="right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386584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2   IDENTIFY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386584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NER links articles to tickers;
full-text pulled for matches (Stage B)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3880612" y="2386584"/>
            <a:ext cx="219456" cy="237744"/>
          </a:xfrm>
          <a:prstGeom prst="right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70248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3   SCORE SENTIMENT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70248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FinBERT + LLM ensemble,
relevance-weighted per article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764276" y="2386584"/>
            <a:ext cx="219456" cy="237744"/>
          </a:xfrm>
          <a:prstGeom prst="right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53912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168F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4   AGGREGATE SIGNALS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53912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Recent / Mid / Historical windows;
inflection &amp; trend detection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47940" y="2386584"/>
            <a:ext cx="219456" cy="237744"/>
          </a:xfrm>
          <a:prstGeom prst="right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37576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5   VALUE &amp; SCORE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37576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Own-history factor scorecard +
Sentiment factor, weighted composite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531604" y="2386584"/>
            <a:ext cx="219456" cy="237744"/>
          </a:xfrm>
          <a:prstGeom prst="right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921240" y="1600200"/>
            <a:ext cx="1481328" cy="530352"/>
          </a:xfrm>
          <a:prstGeom prst="roundRect">
            <a:avLst>
              <a:gd name="adj" fmla="val 8000"/>
            </a:avLst>
          </a:prstGeom>
          <a:solidFill>
            <a:srgbClr val="E08E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6   SYNTHESIZE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921240" y="2155952"/>
            <a:ext cx="1481328" cy="9784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/>
          <a:lstStyle/>
          <a:p>
            <a:pPr algn="ctr"/>
            <a:r>
              <a:rPr sz="950">
                <a:solidFill>
                  <a:srgbClr val="3A445C"/>
                </a:solidFill>
                <a:latin typeface="Calibri"/>
              </a:rPr>
              <a:t>Peer comps → Bull/Bear cases →
stock pitch, LLM-grounded, cached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61188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14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OUTPUT: Investment Thesis (Bull / Neutral / Bear stance) -- every claim traceable to a real metric, z-score, peer comparison, or ingested headline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70916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487"/>
                </a:solidFill>
                <a:latin typeface="Calibri"/>
              </a:rPr>
              <a:t>PERSISTED THROUGHOUT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2920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3A445C"/>
                </a:solidFill>
                <a:latin typeface="Calibri"/>
              </a:rPr>
              <a:t>articles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057400" y="502920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3A445C"/>
                </a:solidFill>
                <a:latin typeface="Calibri"/>
              </a:rPr>
              <a:t>article_entities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11880" y="502920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3A445C"/>
                </a:solidFill>
                <a:latin typeface="Calibri"/>
              </a:rPr>
              <a:t>article_sentiment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5029200"/>
            <a:ext cx="1417320" cy="384048"/>
          </a:xfrm>
          <a:prstGeom prst="roundRect">
            <a:avLst>
              <a:gd name="adj" fmla="val 25000"/>
            </a:avLst>
          </a:prstGeom>
          <a:solidFill>
            <a:srgbClr val="E9E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050" b="0">
                <a:solidFill>
                  <a:srgbClr val="3A445C"/>
                </a:solidFill>
                <a:latin typeface="Calibri"/>
              </a:rPr>
              <a:t>ingestion_runs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5102352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6B7487"/>
                </a:solidFill>
                <a:latin typeface="Calibri"/>
              </a:rPr>
              <a:t>SQLite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709160"/>
            <a:ext cx="3474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487"/>
                </a:solidFill>
                <a:latin typeface="Calibri"/>
              </a:rPr>
              <a:t>SPEED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5029200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45C"/>
                </a:solidFill>
                <a:latin typeface="Calibri"/>
              </a:rPr>
              <a:t>Stage 5-6 results are cached (ticker, and ticker+stance) so switching a Bull/Bear/Neutral view is instant instead of a ~30s re-chain.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7"/>
                </a:solidFill>
                <a:latin typeface="Calibri"/>
              </a:rPr>
              <a:t>Stages 1-4: deterministic pipeline over stored news.  Stages 5-6: quantitative scoring + LLM synthesis, both fully grounded.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487"/>
                </a:solidFill>
                <a:latin typeface="Calibri"/>
              </a:rPr>
              <a:t>Sentinel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8F9E"/>
                </a:solidFill>
                <a:latin typeface="Calibri"/>
              </a:rPr>
              <a:t>SYSTEM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B2E"/>
                </a:solidFill>
                <a:latin typeface="Calibri"/>
              </a:rPr>
              <a:t>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11201400" cy="868680"/>
          </a:xfrm>
          <a:prstGeom prst="roundRect">
            <a:avLst>
              <a:gd name="adj" fmla="val 8000"/>
            </a:avLst>
          </a:prstGeom>
          <a:solidFill>
            <a:srgbClr val="1E2A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FRONTEND -- React + Vite + Tailwind SPA</a:t>
            </a:r>
          </a:p>
          <a:p>
            <a:pPr algn="ctr"/>
            <a:r>
              <a:rPr sz="1050" b="0">
                <a:solidFill>
                  <a:srgbClr val="FFFFFF"/>
                </a:solidFill>
                <a:latin typeface="Calibri"/>
              </a:rPr>
              <a:t>6 tabs per company: Sentiment &amp; News · Quantitative Valuation · Integrated Scoring · Comparables · Bull/Bear Case · Investment Thesis</a:t>
            </a:r>
          </a:p>
        </p:txBody>
      </p:sp>
      <p:sp>
        <p:nvSpPr>
          <p:cNvPr id="6" name="Down Arrow 5"/>
          <p:cNvSpPr/>
          <p:nvPr/>
        </p:nvSpPr>
        <p:spPr>
          <a:xfrm>
            <a:off x="5806440" y="2298700"/>
            <a:ext cx="320040" cy="201168"/>
          </a:xfrm>
          <a:prstGeom prst="down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2743200"/>
            <a:ext cx="11201400" cy="685800"/>
          </a:xfrm>
          <a:prstGeom prst="roundRect">
            <a:avLst>
              <a:gd name="adj" fmla="val 8000"/>
            </a:avLst>
          </a:prstGeom>
          <a:solidFill>
            <a:srgbClr val="3A44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BACKEND -- Flask API (JSON + SSE)</a:t>
            </a:r>
          </a:p>
          <a:p>
            <a:pPr algn="ctr"/>
            <a:r>
              <a:rPr sz="1000" b="0">
                <a:solidFill>
                  <a:srgbClr val="FFFFFF"/>
                </a:solidFill>
                <a:latin typeface="Calibri"/>
              </a:rPr>
              <a:t>Stateless route handlers; SSE streams for long-running ingestion &amp; scoring jobs</a:t>
            </a:r>
          </a:p>
        </p:txBody>
      </p:sp>
      <p:sp>
        <p:nvSpPr>
          <p:cNvPr id="8" name="Down Arrow 7"/>
          <p:cNvSpPr/>
          <p:nvPr/>
        </p:nvSpPr>
        <p:spPr>
          <a:xfrm>
            <a:off x="5806440" y="3441700"/>
            <a:ext cx="320040" cy="201168"/>
          </a:xfrm>
          <a:prstGeom prst="downArrow">
            <a:avLst/>
          </a:prstGeom>
          <a:solidFill>
            <a:srgbClr val="C4CB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384048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EXTERNAL DATA SOURCES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26466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Google News RSS · NewsAPI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Benzinga · Yahoo Finance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Alpha Vantage (news + fundamentals)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yfinance (price history)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5112" y="384048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AI / ML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426466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FinBERT -- local sentiment model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Gemini (flash-lite) -- NER, sentiment,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  rationale &amp; thesis synthesis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Grounding-contract prompts, temp 0.3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47304" y="384048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150" b="1">
                <a:solidFill>
                  <a:srgbClr val="FFFFFF"/>
                </a:solidFill>
                <a:latin typeface="Calibri"/>
              </a:rPr>
              <a:t>PERSISTENCE &amp; CACHING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7304" y="4264660"/>
            <a:ext cx="3566160" cy="15087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SQLite -- articles, entities, sentiment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In-memory TTL caches -- peers, factor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  scorecards, thesis/pitch results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3A445C"/>
                </a:solidFill>
                <a:latin typeface="Calibri"/>
              </a:rPr>
              <a:t>• Browser localStorage -- weight locks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7"/>
                </a:solidFill>
                <a:latin typeface="Calibri"/>
              </a:rPr>
              <a:t>Single-process Flask dev server; in-memory caches are per-process, TTL-bounded (15 min - 6 hrs depending on volatility of the underlying data).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487"/>
                </a:solidFill>
                <a:latin typeface="Calibri"/>
              </a:rPr>
              <a:t>Sentinel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08E2C"/>
                </a:solidFill>
                <a:latin typeface="Calibri"/>
              </a:rPr>
              <a:t>WHAT MAKES THE SYNTHESIS TRUSTWORTHY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30352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141B2E"/>
                </a:solidFill>
                <a:latin typeface="Calibri"/>
              </a:rPr>
              <a:t>Design Principles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11201400" cy="25400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472184"/>
            <a:ext cx="146304" cy="146304"/>
          </a:xfrm>
          <a:prstGeom prst="ellipse">
            <a:avLst/>
          </a:prstGeom>
          <a:solidFill>
            <a:srgbClr val="D64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B2E"/>
                </a:solidFill>
                <a:latin typeface="Calibri"/>
              </a:rPr>
              <a:t>Grounding contracts, not just instructions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A445C"/>
                </a:solidFill>
                <a:latin typeface="Calibri"/>
              </a:rPr>
              <a:t>Every LLM prompt explicitly forbids using pretrained knowledge about the company -- only facts present in the evidence block are usable. Caught and fixed a real case: a prompt cited a real $250B Micron investment but unrigorously used it to "justify" a valuation multiple with no stated mechanism.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78024"/>
            <a:ext cx="11201400" cy="9525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02920" y="2642616"/>
            <a:ext cx="146304" cy="146304"/>
          </a:xfrm>
          <a:prstGeom prst="ellipse">
            <a:avLst/>
          </a:prstGeom>
          <a:solidFill>
            <a:srgbClr val="2F6F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587752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B2E"/>
                </a:solidFill>
                <a:latin typeface="Calibri"/>
              </a:rPr>
              <a:t>Chained, single-purpose LLM calls -- not one mega-prompt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953512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A445C"/>
                </a:solidFill>
                <a:latin typeface="Calibri"/>
              </a:rPr>
              <a:t>Valuation rationale, sentiment rationale, and case synthesis are separate calls, each grounded in the prior stage's output. Keeps each call focused, auditable, and independently cacheable.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648456"/>
            <a:ext cx="11201400" cy="9525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02920" y="3813048"/>
            <a:ext cx="146304" cy="146304"/>
          </a:xfrm>
          <a:prstGeom prst="ellipse">
            <a:avLst/>
          </a:prstGeom>
          <a:solidFill>
            <a:srgbClr val="1F9D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58184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B2E"/>
                </a:solidFill>
                <a:latin typeface="Calibri"/>
              </a:rPr>
              <a:t>Every claim is traceable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23944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A445C"/>
                </a:solidFill>
                <a:latin typeface="Calibri"/>
              </a:rPr>
              <a:t>Sentiment points link to the real source article (external URL) and back into the app's own Sentiment &amp; News tab. Valuation points cite the exact metric and z-score shown elsewhere in the product.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818888"/>
            <a:ext cx="11201400" cy="9525"/>
          </a:xfrm>
          <a:prstGeom prst="rect">
            <a:avLst/>
          </a:prstGeom>
          <a:solidFill>
            <a:srgbClr val="E3E6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02920" y="4983480"/>
            <a:ext cx="146304" cy="146304"/>
          </a:xfrm>
          <a:prstGeom prst="ellipse">
            <a:avLst/>
          </a:prstGeom>
          <a:solidFill>
            <a:srgbClr val="7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928616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B2E"/>
                </a:solidFill>
                <a:latin typeface="Calibri"/>
              </a:rPr>
              <a:t>Stance-aware, not opinion-aware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94376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3A445C"/>
                </a:solidFill>
                <a:latin typeface="Calibri"/>
              </a:rPr>
              <a:t>The Investment Thesis page can argue Bull, Neutral, or Bear on request -- same evidence, different angle, the way a real desk produces both a long and a short pitch off one research base.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73952"/>
            <a:ext cx="9144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1">
                <a:solidFill>
                  <a:srgbClr val="6B7487"/>
                </a:solidFill>
                <a:latin typeface="Calibri"/>
              </a:rPr>
              <a:t>All temperature-0.3 generation; every page shows its underlying evidence, not just the conclusion.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 i="0">
                <a:solidFill>
                  <a:srgbClr val="6B7487"/>
                </a:solidFill>
                <a:latin typeface="Calibri"/>
              </a:rPr>
              <a:t>Sentinel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